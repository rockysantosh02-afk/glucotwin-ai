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09560" y="594360"/>
            <a:ext cx="3657600" cy="55321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1417320"/>
            <a:ext cx="1645920" cy="1645920"/>
          </a:xfrm>
          <a:prstGeom prst="ellipse">
            <a:avLst/>
          </a:prstGeom>
          <a:noFill/>
          <a:ln w="38100">
            <a:solidFill>
              <a:srgbClr val="1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53728" y="1755648"/>
            <a:ext cx="969264" cy="969264"/>
          </a:xfrm>
          <a:prstGeom prst="ellipse">
            <a:avLst/>
          </a:prstGeom>
          <a:noFill/>
          <a:ln w="38100">
            <a:solidFill>
              <a:srgbClr val="5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3954780"/>
            <a:ext cx="164592" cy="594360"/>
          </a:xfrm>
          <a:prstGeom prst="round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42248" y="3749040"/>
            <a:ext cx="164592" cy="1005840"/>
          </a:xfrm>
          <a:prstGeom prst="roundRect">
            <a:avLst/>
          </a:prstGeom>
          <a:solidFill>
            <a:srgbClr val="5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26296" y="3497580"/>
            <a:ext cx="164592" cy="1508760"/>
          </a:xfrm>
          <a:prstGeom prst="round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10344" y="3703320"/>
            <a:ext cx="164592" cy="1097280"/>
          </a:xfrm>
          <a:prstGeom prst="roundRect">
            <a:avLst/>
          </a:prstGeom>
          <a:solidFill>
            <a:srgbClr val="5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94392" y="3886200"/>
            <a:ext cx="164592" cy="731520"/>
          </a:xfrm>
          <a:prstGeom prst="round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78440" y="3611880"/>
            <a:ext cx="164592" cy="1280160"/>
          </a:xfrm>
          <a:prstGeom prst="roundRect">
            <a:avLst/>
          </a:prstGeom>
          <a:solidFill>
            <a:srgbClr val="5F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62488" y="3817620"/>
            <a:ext cx="164592" cy="868680"/>
          </a:xfrm>
          <a:prstGeom prst="round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85800"/>
            <a:ext cx="6583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1EBEAA"/>
                </a:solidFill>
                <a:latin typeface="Aptos"/>
              </a:defRPr>
            </a:pPr>
            <a:r>
              <a:t>DIGITAL TWIN CHALLENGE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508760"/>
            <a:ext cx="67665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800" b="1">
                <a:solidFill>
                  <a:srgbClr val="F6F9FC"/>
                </a:solidFill>
                <a:latin typeface="Aptos Display"/>
              </a:defRPr>
            </a:pPr>
            <a:r>
              <a:t>GlucoTwin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43200"/>
            <a:ext cx="6675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300" b="1">
                <a:solidFill>
                  <a:srgbClr val="5FDCD2"/>
                </a:solidFill>
                <a:latin typeface="Aptos"/>
              </a:defRPr>
            </a:pPr>
            <a:r>
              <a:t>Personalized Metabolic Digital Twin</a:t>
            </a:r>
            <a:br/>
            <a:r>
              <a:t>&amp; Early-Warning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86200"/>
            <a:ext cx="63093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0">
                <a:solidFill>
                  <a:srgbClr val="B4C4D3"/>
                </a:solidFill>
                <a:latin typeface="Aptos"/>
              </a:defRPr>
            </a:pPr>
            <a:r>
              <a:t>Predict the metabolic future.</a:t>
            </a:r>
            <a:br/>
            <a:r>
              <a:t>Personalize the next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57800"/>
            <a:ext cx="6675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Presented by D. Santosh  |  Vishnu Institute of Technology, Bhimavaram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B4C4D3"/>
                </a:solidFill>
                <a:latin typeface="Aptos"/>
              </a:defRPr>
            </a:pPr>
            <a:r>
              <a:t>Research prototype • Synthetic data • Clinician-in-the-loop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01 •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The idea in one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THE PROBLEM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Health records, glucose readings, wearable signals and lifestyle logs are often reviewed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THE SOLUTION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A continuously updated virtual patient state that forecasts multi-horizon glucose trajectories and explains model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THE VALUE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Help clinical teams prioritize review and understand changing patient-specific patterns between appointments.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6070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100" b="1">
                <a:solidFill>
                  <a:srgbClr val="F6F9FC"/>
                </a:solidFill>
                <a:latin typeface="Aptos"/>
              </a:defRPr>
            </a:pPr>
            <a:r>
              <a:t>Core challenge fit: integrate historical EHR data + dynamic sensor time series → predict a defined adverse glucose event → present a clinician-facing digital twin.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1">
                <a:solidFill>
                  <a:srgbClr val="FFBE5A"/>
                </a:solidFill>
                <a:latin typeface="Aptos"/>
              </a:defRPr>
            </a:pPr>
            <a:r>
              <a:t>Initial scope: Type 1 diabetes research and glucose-insulin homeostasis — not a whole-body digital twin.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02 • HEALTHCARE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Why a digital twin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400800" cy="411480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Periodic lab tests provide snapshots, not continuous context.</a:t>
            </a:r>
          </a:p>
          <a:p>
            <a:pPr>
              <a:spcAft>
                <a:spcPts val="9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Wearable and glucose data can change faster than routine appointments.</a:t>
            </a:r>
          </a:p>
          <a:p>
            <a:pPr>
              <a:spcAft>
                <a:spcPts val="9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A chart shows what happened; clinicians also need a careful estimate of what may happen next.</a:t>
            </a:r>
          </a:p>
          <a:p>
            <a:pPr>
              <a:spcAft>
                <a:spcPts val="9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Generic thresholds may miss how a person differs from their own baseline.</a:t>
            </a:r>
          </a:p>
          <a:p>
            <a:pPr>
              <a:spcAft>
                <a:spcPts val="9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Predictions must show uncertainty and data quality—not just a risk color.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794760" cy="32461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BE5A"/>
                </a:solidFill>
                <a:latin typeface="Aptos Display"/>
              </a:defRPr>
            </a:pPr>
            <a:r>
              <a:t>THE GAP</a:t>
            </a:r>
          </a:p>
          <a:p>
            <a:pPr>
              <a:spcAft>
                <a:spcPts val="0"/>
              </a:spcAft>
              <a:defRPr sz="1800">
                <a:solidFill>
                  <a:srgbClr val="F6F9FC"/>
                </a:solidFill>
                <a:latin typeface="Aptos"/>
              </a:defRPr>
            </a:pPr>
            <a:r>
              <a:t>Disconnected measurements</a:t>
            </a:r>
            <a:br/>
            <a:br/>
            <a:r>
              <a:t>        ↓</a:t>
            </a:r>
            <a:br/>
            <a:br/>
            <a:r>
              <a:t>Limited forward-looking context</a:t>
            </a:r>
            <a:br/>
            <a:br/>
            <a:r>
              <a:t>        ↓</a:t>
            </a:r>
            <a:br/>
            <a:br/>
            <a:r>
              <a:t>Harder to prioritize follow-up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03 •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How GlucoTwin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057400" cy="19659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01  Historical EHR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Labs, conditions,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278892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1E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148840"/>
            <a:ext cx="2057400" cy="19659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02  Sensor stream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Glucose, activity, 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78892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1E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148840"/>
            <a:ext cx="2057400" cy="19659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03  Quality + state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Align, validate, personalize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78892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1E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19" y="2148840"/>
            <a:ext cx="2057400" cy="19659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04  Prediction engine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Forecast + forecast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7" y="2788920"/>
            <a:ext cx="228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1E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2148840"/>
            <a:ext cx="2057400" cy="19659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05  Clinician dashboard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Explain, compare,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6984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F6F9FC"/>
                </a:solidFill>
                <a:latin typeface="Aptos"/>
              </a:defRPr>
            </a:pPr>
            <a:r>
              <a:t>New observations update the twin state. Forecasts are stored, then compared with later observations for honest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04 •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Core features and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Personal baseline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Compare new readings against a patient-specific rolling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15–60 minute forecast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Project 15, 30, 45 and 60-minute glucose trajectories.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Explainable output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Show influential features, direction and data-quality caveats.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BE5A"/>
                </a:solidFill>
                <a:latin typeface="Aptos Display"/>
              </a:defRPr>
            </a:pPr>
            <a:r>
              <a:t>What-if simulator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Compare a baseline with a clearly hypothetical input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5204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2707D"/>
                </a:solidFill>
                <a:latin typeface="Aptos Display"/>
              </a:defRPr>
            </a:pPr>
            <a:r>
              <a:t>Data trust layer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Flag stale readings, missing history and unfamiliar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520440"/>
            <a:ext cx="3520440" cy="155448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Clinician workflow</a:t>
            </a:r>
          </a:p>
          <a:p>
            <a:pPr>
              <a:spcAft>
                <a:spcPts val="0"/>
              </a:spcAft>
              <a:defRPr sz="1300">
                <a:solidFill>
                  <a:srgbClr val="F6F9FC"/>
                </a:solidFill>
                <a:latin typeface="Aptos"/>
              </a:defRPr>
            </a:pPr>
            <a:r>
              <a:t>Patient timeline, review queue, prediction history and exports.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05 •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Two data streams, one patient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33375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HISTORICAL / EHR</a:t>
            </a:r>
          </a:p>
          <a:p>
            <a:pPr>
              <a:spcAft>
                <a:spcPts val="0"/>
              </a:spcAft>
              <a:defRPr sz="1600">
                <a:solidFill>
                  <a:srgbClr val="F6F9FC"/>
                </a:solidFill>
                <a:latin typeface="Aptos"/>
              </a:defRPr>
            </a:pPr>
            <a:r>
              <a:t>• Synthetic demographics</a:t>
            </a:r>
            <a:br/>
            <a:r>
              <a:t>• Conditions and diagnosis history</a:t>
            </a:r>
            <a:br/>
            <a:r>
              <a:t>• HbA1c and laboratory observations</a:t>
            </a:r>
            <a:br/>
            <a:r>
              <a:t>• Medication history as context</a:t>
            </a:r>
            <a:br/>
            <a:r>
              <a:t>• Historical glucose readings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212080" cy="333756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DYNAMIC / TIME SERIES</a:t>
            </a:r>
          </a:p>
          <a:p>
            <a:pPr>
              <a:spcAft>
                <a:spcPts val="0"/>
              </a:spcAft>
              <a:defRPr sz="1600">
                <a:solidFill>
                  <a:srgbClr val="F6F9FC"/>
                </a:solidFill>
                <a:latin typeface="Aptos"/>
              </a:defRPr>
            </a:pPr>
            <a:r>
              <a:t>• Glucose readings with timestamps</a:t>
            </a:r>
            <a:br/>
            <a:r>
              <a:t>• Heart rate / HRV when available</a:t>
            </a:r>
            <a:br/>
            <a:r>
              <a:t>• Steps and physical activity</a:t>
            </a:r>
            <a:br/>
            <a:r>
              <a:t>• Sleep and meal logs when available</a:t>
            </a:r>
            <a:br/>
            <a:r>
              <a:t>• Source, freshness and missingness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424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Data sources: Synthea-generated synthetic EHRs + reproducible synthetic sensor sequences; optional licensed research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06 • MACHINE-LEARNING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Prediction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Forecast model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ARX forecasting with a discrete linear Kalman filter for adaptive state estimation.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Glycemic analytics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Compute AGP quantiles, TIR/TAR/TBR, glycemic variability and GMI.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Reliability controls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Patient baseline, missing-data gates, freshness checks and uncertainty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515600" cy="155448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Compare against persistence and simple statistical baselines.</a:t>
            </a:r>
          </a:p>
          <a:p>
            <a:pPr>
              <a:spcAft>
                <a:spcPts val="7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Split by patient and respect time order to prevent leakage.</a:t>
            </a:r>
          </a:p>
          <a:p>
            <a:pPr>
              <a:spcAft>
                <a:spcPts val="7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Use MAE/RMSE for forecasts; AUROC/AUPRC, calibration and alert burden for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07 • SIMULATION LABORATORY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A digital twin that can be interrogated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291840" cy="27432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BASELINE</a:t>
            </a:r>
          </a:p>
          <a:p>
            <a:pPr>
              <a:spcAft>
                <a:spcPts val="0"/>
              </a:spcAft>
              <a:defRPr sz="1600">
                <a:solidFill>
                  <a:srgbClr val="F6F9FC"/>
                </a:solidFill>
                <a:latin typeface="Aptos"/>
              </a:defRPr>
            </a:pPr>
            <a:r>
              <a:t>Observed synthetic history</a:t>
            </a:r>
            <a:br/>
            <a:br/>
            <a:r>
              <a:t>Model version: v1</a:t>
            </a:r>
            <a:br/>
            <a:br/>
            <a:r>
              <a:t>Forecast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43200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800" b="1">
                <a:solidFill>
                  <a:srgbClr val="5FDCD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783080"/>
            <a:ext cx="3291840" cy="27432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BE5A"/>
                </a:solidFill>
                <a:latin typeface="Aptos Display"/>
              </a:defRPr>
            </a:pPr>
            <a:r>
              <a:t>HYPOTHETICAL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Change one supported input</a:t>
            </a:r>
            <a:br/>
            <a:br/>
            <a:r>
              <a:t>Keep model version fixed</a:t>
            </a:r>
            <a:br/>
            <a:br/>
            <a:r>
              <a:t>Recalculate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5029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500" b="1">
                <a:solidFill>
                  <a:srgbClr val="1E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783080"/>
            <a:ext cx="2514600" cy="27432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COMPARE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Difference</a:t>
            </a:r>
            <a:br/>
            <a:r>
              <a:t>Uncertainty</a:t>
            </a:r>
            <a:br/>
            <a:r>
              <a:t>Assumptions</a:t>
            </a:r>
            <a:br/>
            <a:r>
              <a:t>Data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FBE5A"/>
                </a:solidFill>
                <a:latin typeface="Aptos"/>
              </a:defRPr>
            </a:pPr>
            <a:r>
              <a:t>The simulator estimates model responses to changed inputs; it does not establish causality or recommend medication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08 • ENGINEERING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00200"/>
            <a:ext cx="8138160" cy="658368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React + TypeScript</a:t>
            </a:r>
          </a:p>
          <a:p>
            <a:pPr>
              <a:spcAft>
                <a:spcPts val="0"/>
              </a:spcAft>
              <a:defRPr sz="1100">
                <a:solidFill>
                  <a:srgbClr val="F6F9FC"/>
                </a:solidFill>
                <a:latin typeface="Aptos"/>
              </a:defRPr>
            </a:pPr>
            <a:r>
              <a:t>Dashboard • charts •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231136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1EBEA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441448"/>
            <a:ext cx="8138160" cy="658368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FastAPI REST API</a:t>
            </a:r>
          </a:p>
          <a:p>
            <a:pPr>
              <a:spcAft>
                <a:spcPts val="0"/>
              </a:spcAft>
              <a:defRPr sz="1100">
                <a:solidFill>
                  <a:srgbClr val="F6F9FC"/>
                </a:solidFill>
                <a:latin typeface="Aptos"/>
              </a:defRPr>
            </a:pPr>
            <a:r>
              <a:t>Validation • orchestration • access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072384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1EBEA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282696"/>
            <a:ext cx="8138160" cy="658368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Digital twin + ML</a:t>
            </a:r>
          </a:p>
          <a:p>
            <a:pPr>
              <a:spcAft>
                <a:spcPts val="0"/>
              </a:spcAft>
              <a:defRPr sz="1100">
                <a:solidFill>
                  <a:srgbClr val="F6F9FC"/>
                </a:solidFill>
                <a:latin typeface="Aptos"/>
              </a:defRPr>
            </a:pPr>
            <a:r>
              <a:t>State updater • forecasting • risk •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913631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1EBEA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123944"/>
            <a:ext cx="8138160" cy="658368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PostgreSQL</a:t>
            </a:r>
          </a:p>
          <a:p>
            <a:pPr>
              <a:spcAft>
                <a:spcPts val="0"/>
              </a:spcAft>
              <a:defRPr sz="1100">
                <a:solidFill>
                  <a:srgbClr val="F6F9FC"/>
                </a:solidFill>
                <a:latin typeface="Aptos"/>
              </a:defRPr>
            </a:pPr>
            <a:r>
              <a:t>Patients • observations • predictions • audit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754879"/>
            <a:ext cx="4572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1EBEAA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965192"/>
            <a:ext cx="8138160" cy="658368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Synthetic data + evaluation</a:t>
            </a:r>
          </a:p>
          <a:p>
            <a:pPr>
              <a:spcAft>
                <a:spcPts val="0"/>
              </a:spcAft>
              <a:defRPr sz="1100">
                <a:solidFill>
                  <a:srgbClr val="F6F9FC"/>
                </a:solidFill>
                <a:latin typeface="Aptos"/>
              </a:defRPr>
            </a:pPr>
            <a:r>
              <a:t>Seeded scenarios • model metrics •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B4C4D3"/>
                </a:solidFill>
                <a:latin typeface="Aptos"/>
              </a:defRPr>
            </a:pPr>
            <a:r>
              <a:t>Deployment: separate Render frontend + backend services, with managed PostgreSQL.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09 •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How we will prove the prototype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520440" cy="192024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Forecast quality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MAE • RMSE</a:t>
            </a:r>
            <a:br/>
            <a:r>
              <a:t>Compare against persistence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92024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Glycemic metrics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AUROC • AUPRC</a:t>
            </a:r>
            <a:br/>
            <a:r>
              <a:t>Sensitivity • specificity • calibration.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91640"/>
            <a:ext cx="3520440" cy="192024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Operational reliability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Missing-data tests</a:t>
            </a:r>
            <a:br/>
            <a:r>
              <a:t>False-alert burden</a:t>
            </a:r>
            <a:br/>
            <a:r>
              <a:t>API and workflow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10424160" cy="137160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Use patient-level splits and time-ordered validation.</a:t>
            </a:r>
          </a:p>
          <a:p>
            <a:pPr>
              <a:spcAft>
                <a:spcPts val="6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Report actual sample counts and synthetic-data provenance.</a:t>
            </a:r>
          </a:p>
          <a:p>
            <a:pPr>
              <a:spcAft>
                <a:spcPts val="60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•  Do not claim superiority or clinical validation without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10 • PRODUCT AND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Business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74720" cy="22860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CUSTOMERS</a:t>
            </a:r>
          </a:p>
          <a:p>
            <a:pPr>
              <a:spcAft>
                <a:spcPts val="0"/>
              </a:spcAft>
              <a:defRPr sz="1600">
                <a:solidFill>
                  <a:srgbClr val="F6F9FC"/>
                </a:solidFill>
                <a:latin typeface="Aptos"/>
              </a:defRPr>
            </a:pPr>
            <a:r>
              <a:t>Diabetes clinics</a:t>
            </a:r>
            <a:br/>
            <a:r>
              <a:t>Hospitals</a:t>
            </a:r>
            <a:br/>
            <a:r>
              <a:t>Remote monitoring providers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74720" cy="22860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DELIVERY</a:t>
            </a:r>
          </a:p>
          <a:p>
            <a:pPr>
              <a:spcAft>
                <a:spcPts val="0"/>
              </a:spcAft>
              <a:defRPr sz="1600">
                <a:solidFill>
                  <a:srgbClr val="F6F9FC"/>
                </a:solidFill>
                <a:latin typeface="Aptos"/>
              </a:defRPr>
            </a:pPr>
            <a:r>
              <a:t>Clinician SaaS dashboard</a:t>
            </a:r>
            <a:br/>
            <a:r>
              <a:t>Longitudinal patient view</a:t>
            </a:r>
            <a:br/>
            <a:r>
              <a:t>Review queue +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474720" cy="228600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POTENTIAL MODEL</a:t>
            </a:r>
          </a:p>
          <a:p>
            <a:pPr>
              <a:spcAft>
                <a:spcPts val="0"/>
              </a:spcAft>
              <a:defRPr sz="1500">
                <a:solidFill>
                  <a:srgbClr val="F6F9FC"/>
                </a:solidFill>
                <a:latin typeface="Aptos"/>
              </a:defRPr>
            </a:pPr>
            <a:r>
              <a:t>Per-clinic subscription</a:t>
            </a:r>
            <a:br/>
            <a:r>
              <a:t>or per-monitored-patient pricing</a:t>
            </a:r>
            <a:br/>
            <a:r>
              <a:t>(after validation)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FBE5A"/>
                </a:solidFill>
                <a:latin typeface="Aptos"/>
              </a:defRPr>
            </a:pPr>
            <a:r>
              <a:t>Initial business hypothesis: improve how teams organize longitudinal data and prioritize review. Cost savings and improved outcomes must be validated.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11 •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Prototype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234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EBEAA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Synthetic data +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Reproducible EHR and sensor generator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084832"/>
            <a:ext cx="10058400" cy="13716"/>
          </a:xfrm>
          <a:prstGeom prst="rect">
            <a:avLst/>
          </a:prstGeom>
          <a:solidFill>
            <a:srgbClr val="2A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EBEAA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05456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Twin +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05456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Forecasting, risk model, baseline comparisons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944368"/>
            <a:ext cx="10058400" cy="13716"/>
          </a:xfrm>
          <a:prstGeom prst="rect">
            <a:avLst/>
          </a:prstGeom>
          <a:solidFill>
            <a:srgbClr val="2A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1"/>
            <a:ext cx="1234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EBEAA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64991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64991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Patient view, dashboard, simulation lab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3803904"/>
            <a:ext cx="10058400" cy="13716"/>
          </a:xfrm>
          <a:prstGeom prst="rect">
            <a:avLst/>
          </a:prstGeom>
          <a:solidFill>
            <a:srgbClr val="2A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1234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EBEAA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24528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224528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Tests, exports, security,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4663440"/>
            <a:ext cx="10058400" cy="13716"/>
          </a:xfrm>
          <a:prstGeom prst="rect">
            <a:avLst/>
          </a:prstGeom>
          <a:solidFill>
            <a:srgbClr val="2A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84064"/>
            <a:ext cx="1234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1EBEAA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84064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Publish +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084064"/>
            <a:ext cx="6217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B4C4D3"/>
                </a:solidFill>
                <a:latin typeface="Aptos"/>
              </a:defRPr>
            </a:pPr>
            <a:r>
              <a:t>GitHub, Render, demo recording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12 •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Safety, privacy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251960"/>
          </a:xfrm>
          <a:prstGeom prst="rect">
            <a:avLst/>
          </a:prstGeom>
          <a:noFill/>
        </p:spPr>
        <p:txBody>
          <a:bodyPr wrap="square" lIns="45720" rIns="36576" tIns="27432" bIns="27432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Synthetic data only in the demo; never seed real patient records.</a:t>
            </a:r>
          </a:p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Clearly distinguish observed, derived, predicted and hypothetical values.</a:t>
            </a:r>
          </a:p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Show model version, units, timestamps, missingness and uncertainty.</a:t>
            </a:r>
          </a:p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Abstain when data is insufficient or outside the supported input distribution.</a:t>
            </a:r>
          </a:p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No diagnosis, insulin dosing or autonomous treatment recommendations.</a:t>
            </a:r>
          </a:p>
          <a:p>
            <a:pPr>
              <a:spcAft>
                <a:spcPts val="11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Clinical validation, privacy review and regulatory assessment are future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FFBE5A"/>
                </a:solidFill>
                <a:latin typeface="Aptos"/>
              </a:defRPr>
            </a:pPr>
            <a:r>
              <a:t>A working software demo is not proof of clinical validity.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1EBEAA"/>
                </a:solidFill>
                <a:latin typeface="Aptos"/>
              </a:defRPr>
            </a:pPr>
            <a:r>
              <a:t>13 • GITHUB +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Submission artifacts and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25880"/>
            <a:ext cx="731520" cy="45720"/>
          </a:xfrm>
          <a:prstGeom prst="rect">
            <a:avLst/>
          </a:prstGeom>
          <a:solidFill>
            <a:srgbClr val="1E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B4C4D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12080" cy="14173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1EBEAA"/>
                </a:solidFill>
                <a:latin typeface="Aptos Display"/>
              </a:defRPr>
            </a:pPr>
            <a:r>
              <a:t>PUBLIC REPOSITORY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https://github.com/rockysantosh02-afk/Glucotwin-AI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12080" cy="14173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5FDCD2"/>
                </a:solidFill>
                <a:latin typeface="Aptos Display"/>
              </a:defRPr>
            </a:pPr>
            <a:r>
              <a:t>LIVE WEB APP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Add the deployed Render frontend URL after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5212080" cy="14173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69DCAA"/>
                </a:solidFill>
                <a:latin typeface="Aptos Display"/>
              </a:defRPr>
            </a:pPr>
            <a:r>
              <a:t>INTERACTIVE API DOCS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Add the backend Render URL followed by /docs.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29000"/>
            <a:ext cx="5212080" cy="1417320"/>
          </a:xfrm>
          <a:prstGeom prst="roundRect">
            <a:avLst/>
          </a:prstGeom>
          <a:solidFill>
            <a:srgbClr val="13263E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09728"/>
          <a:lstStyle/>
          <a:p>
            <a:pPr algn="ctr">
              <a:spcAft>
                <a:spcPts val="800"/>
              </a:spcAft>
              <a:defRPr sz="1600" b="1">
                <a:solidFill>
                  <a:srgbClr val="FFBE5A"/>
                </a:solidFill>
                <a:latin typeface="Aptos Display"/>
              </a:defRPr>
            </a:pPr>
            <a:r>
              <a:t>DEMO VIDEO</a:t>
            </a:r>
          </a:p>
          <a:p>
            <a:pPr>
              <a:spcAft>
                <a:spcPts val="0"/>
              </a:spcAft>
              <a:defRPr sz="1400">
                <a:solidFill>
                  <a:srgbClr val="F6F9FC"/>
                </a:solidFill>
                <a:latin typeface="Aptos"/>
              </a:defRPr>
            </a:pPr>
            <a:r>
              <a:t>Unlisted YouTube URL — add after recording a 20+ minute walkthrough.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F2707D"/>
                </a:solidFill>
                <a:latin typeface="Aptos"/>
              </a:defRPr>
            </a:pPr>
            <a:r>
              <a:t>Before submission: replace every placeholder URL in README.md with a real, tested link. Do not submit placeholder links.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400" b="1">
                <a:solidFill>
                  <a:srgbClr val="1EBEAA"/>
                </a:solidFill>
                <a:latin typeface="Aptos"/>
              </a:defRPr>
            </a:pPr>
            <a:r>
              <a:t>GLUCOTWIN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000" b="1">
                <a:solidFill>
                  <a:srgbClr val="F6F9FC"/>
                </a:solidFill>
                <a:latin typeface="Aptos"/>
              </a:defRPr>
            </a:pPr>
            <a:r>
              <a:t>From disconnected readings</a:t>
            </a:r>
            <a:br/>
            <a:r>
              <a:t>to a personalized, predictive twin.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703320"/>
            <a:ext cx="95097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900" b="0">
                <a:solidFill>
                  <a:srgbClr val="5FDCD2"/>
                </a:solidFill>
                <a:latin typeface="Aptos"/>
              </a:defRPr>
            </a:pPr>
            <a:r>
              <a:t>Integrate data. Forecast carefully. Explain the result.</a:t>
            </a:r>
            <a:br/>
            <a:r>
              <a:t>Keep the clinician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03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0">
                <a:solidFill>
                  <a:srgbClr val="B4C4D3"/>
                </a:solidFill>
                <a:latin typeface="Aptos"/>
              </a:defRPr>
            </a:pPr>
            <a:r>
              <a:t>D. Santosh  •  Vishnu Institute of Technology, Bhimavaram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800" b="0">
                <a:solidFill>
                  <a:srgbClr val="B4C4D3"/>
                </a:solidFill>
                <a:latin typeface="Aptos"/>
              </a:defRPr>
            </a:pPr>
            <a:r>
              <a:t>GLUCOTWIN AI  •  DIGITAL TWIN CHALLENGE 2026  •  SYNTHETIC DATA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